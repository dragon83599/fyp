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62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1" y="12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084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各位老师、同学好。这次汇报控制在 5 分钟左右，主要讲两件事：这几天我们做了什么，以及还需要老师确认什么。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这几天我们主要做了三件事。第一，梳理了系统整体方案，把心音采集、数据传输、主机分析和结果显示这条链路理清了。第二，整理了设备端的数据接口初稿，确定 8 kHz 采集、20 ms 一帧，并加入序号、时间戳和 CRC 校验，方便后面检查丢帧和数据损坏。第三，制作了系统架构图和产品示意图，同时开始整理硬件与软件之间的接口。产出方面，阶段 0 接口冻结文档、共用的音频协议头文件、架构图和产品示意图都已经落盘。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第二件事是数据接口初稿：8 kHz、单声道、16-bit PCM、小端；AI 输入带限后2:1 抽取到 4 kHz；20 ms 一帧，8 kHz 下 160 个样本；一帧是 320 字节 payload 加 30 字节 header 加 2 字节 CRC，共 352 字节。每帧带序号和时间戳，timestamp_ms 表示该帧第一个样本的采集时刻，探头生成、主机原样使用。固件和上位机共用的协议头文件已经提供，固定测试帧用来双方核对 header 和 CRC。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系统分成三部分：探头只负责采集和预处理；主机负责接收、显示、播放、本地 AI 推理、WiFi 上传和断网缓存；服务器只负责数据存储。已确定二体式，探头与主机分离。产出上，架构图覆盖采集、组帧、传输、主机处理和结果展示；交互示意图包含心音波形、BPM、AI 状态和信号质量。当前阶段还没有冻结探头和主板结构，也没有完成真实硬件联调。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分工方面，我主要负责 AI 模型训练与边缘部署、显示、无线通信和软件集成；队友负责心音采集、模拟前端、回放、电源、PCB 和硬件结构。我们会共同冻结接口，并完成联调。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目前已经确定采用二体式，探头贴胸采集，主机独立负责显示、控制、播放和联网。想请老师确认这个总体结构是否合适，以及探头和主机之间采用 BLE 无线还是有线连接、蓝牙是否为硬性要求，还有主机形态是手持还是随身佩戴。服务器方面，我们计划只保留数据存储功能，不参与 AI 推理、模型训练和模型管理；想请老师确认上传的数据范围，以及实时上传还是测量结束后上传。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确认之后，我们再和队友细化器件、接口和上传字段：先冻结二体式结构和连接方式，再确定服务器上传的数据范围，最后一起确认具体器件、接口和上传字段。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9436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 dirty="0">
                <a:solidFill>
                  <a:srgbClr val="8FC0C4"/>
                </a:solidFill>
                <a:latin typeface="Segoe UI"/>
                <a:ea typeface="Microsoft YaHei"/>
              </a:rPr>
              <a:t>FINAL YEAR PROJECT · </a:t>
            </a:r>
            <a:r>
              <a:rPr sz="1400" b="1" dirty="0" err="1">
                <a:solidFill>
                  <a:srgbClr val="8FC0C4"/>
                </a:solidFill>
                <a:latin typeface="Segoe UI"/>
                <a:ea typeface="Microsoft YaHei"/>
              </a:rPr>
              <a:t>组会汇报</a:t>
            </a:r>
            <a:endParaRPr sz="1400" b="1" dirty="0">
              <a:solidFill>
                <a:srgbClr val="8FC0C4"/>
              </a:solidFill>
              <a:latin typeface="Segoe UI"/>
              <a:ea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4332136" cy="142898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4000" b="1" dirty="0" err="1">
                <a:latin typeface="Segoe UI"/>
                <a:ea typeface="Microsoft YaHei"/>
              </a:rPr>
              <a:t>便携式心音采集与</a:t>
            </a:r>
            <a:endParaRPr sz="4000" b="1" dirty="0">
              <a:latin typeface="Segoe UI"/>
              <a:ea typeface="Microsoft YaHei"/>
            </a:endParaRPr>
          </a:p>
          <a:p>
            <a:pPr algn="l">
              <a:lnSpc>
                <a:spcPct val="118000"/>
              </a:lnSpc>
            </a:pPr>
            <a:r>
              <a:rPr sz="4000" b="1" dirty="0">
                <a:latin typeface="Segoe UI"/>
                <a:ea typeface="Microsoft YaHei"/>
              </a:rPr>
              <a:t>AI </a:t>
            </a:r>
            <a:r>
              <a:rPr sz="4000" b="1" dirty="0" err="1">
                <a:latin typeface="Segoe UI"/>
                <a:ea typeface="Microsoft YaHei"/>
              </a:rPr>
              <a:t>分析系统</a:t>
            </a:r>
            <a:endParaRPr sz="4000" b="1" dirty="0">
              <a:latin typeface="Segoe UI"/>
              <a:ea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3639312"/>
            <a:ext cx="1280160" cy="54864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895344"/>
            <a:ext cx="5943600" cy="3447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000" b="0" dirty="0" err="1">
                <a:latin typeface="Segoe UI"/>
                <a:ea typeface="Microsoft YaHei"/>
              </a:rPr>
              <a:t>本次汇报：近期进展与待确认事项</a:t>
            </a:r>
            <a:endParaRPr sz="2000" b="0" dirty="0">
              <a:latin typeface="Segoe UI"/>
              <a:ea typeface="Microsoft Ya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5943600" cy="283154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0" dirty="0" err="1">
                <a:solidFill>
                  <a:srgbClr val="98A2AD"/>
                </a:solidFill>
                <a:latin typeface="Segoe UI"/>
                <a:ea typeface="Microsoft YaHei"/>
              </a:rPr>
              <a:t>汇报人：</a:t>
            </a:r>
            <a:r>
              <a:rPr lang="en-US" altLang="zh-CN" sz="1600" b="0" dirty="0" err="1">
                <a:solidFill>
                  <a:srgbClr val="98A2AD"/>
                </a:solidFill>
                <a:latin typeface="Segoe UI"/>
                <a:ea typeface="Microsoft YaHei"/>
              </a:rPr>
              <a:t>Pang</a:t>
            </a:r>
            <a:r>
              <a:rPr lang="en-US" altLang="zh-CN" sz="1600" b="0" dirty="0">
                <a:solidFill>
                  <a:srgbClr val="98A2AD"/>
                </a:solidFill>
                <a:latin typeface="Segoe UI"/>
                <a:ea typeface="Microsoft YaHei"/>
              </a:rPr>
              <a:t> </a:t>
            </a:r>
            <a:r>
              <a:rPr lang="en-US" altLang="zh-CN" sz="1600" b="0" dirty="0" err="1">
                <a:solidFill>
                  <a:srgbClr val="98A2AD"/>
                </a:solidFill>
                <a:latin typeface="Segoe UI"/>
                <a:ea typeface="Microsoft YaHei"/>
              </a:rPr>
              <a:t>Shurui</a:t>
            </a:r>
            <a:r>
              <a:rPr sz="1600" b="0" dirty="0">
                <a:solidFill>
                  <a:srgbClr val="98A2AD"/>
                </a:solidFill>
                <a:latin typeface="Segoe UI"/>
                <a:ea typeface="Microsoft YaHei"/>
              </a:rPr>
              <a:t>     2026-10-06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83480"/>
            <a:ext cx="4663440" cy="457200"/>
          </a:xfrm>
          <a:prstGeom prst="roundRect">
            <a:avLst>
              <a:gd name="adj" fmla="val 40000"/>
            </a:avLst>
          </a:prstGeom>
          <a:noFill/>
          <a:ln w="15875">
            <a:solidFill>
              <a:srgbClr val="3A4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bIns="18288" rtlCol="0" anchor="ctr"/>
          <a:lstStyle/>
          <a:p>
            <a:pPr algn="ctr"/>
            <a:r>
              <a:rPr sz="1500" b="0" dirty="0" err="1">
                <a:solidFill>
                  <a:schemeClr val="tx1"/>
                </a:solidFill>
                <a:latin typeface="Segoe UI"/>
                <a:ea typeface="Microsoft YaHei"/>
              </a:rPr>
              <a:t>汇报路线：近期进展</a:t>
            </a:r>
            <a:r>
              <a:rPr sz="1500" b="0" dirty="0">
                <a:solidFill>
                  <a:schemeClr val="tx1"/>
                </a:solidFill>
                <a:latin typeface="Segoe UI"/>
                <a:ea typeface="Microsoft YaHei"/>
              </a:rPr>
              <a:t>  →  </a:t>
            </a:r>
            <a:r>
              <a:rPr sz="1500" b="0" dirty="0" err="1">
                <a:solidFill>
                  <a:schemeClr val="tx1"/>
                </a:solidFill>
                <a:latin typeface="Segoe UI"/>
                <a:ea typeface="Microsoft YaHei"/>
              </a:rPr>
              <a:t>待确认事项</a:t>
            </a:r>
            <a:r>
              <a:rPr sz="1500" b="0" dirty="0">
                <a:solidFill>
                  <a:schemeClr val="tx1"/>
                </a:solidFill>
                <a:latin typeface="Segoe UI"/>
                <a:ea typeface="Microsoft YaHei"/>
              </a:rPr>
              <a:t>  →  </a:t>
            </a:r>
            <a:r>
              <a:rPr sz="1500" b="0" dirty="0" err="1">
                <a:solidFill>
                  <a:schemeClr val="tx1"/>
                </a:solidFill>
                <a:latin typeface="Segoe UI"/>
                <a:ea typeface="Microsoft YaHei"/>
              </a:rPr>
              <a:t>下一步</a:t>
            </a:r>
            <a:endParaRPr sz="1500" b="0" dirty="0">
              <a:solidFill>
                <a:schemeClr val="tx1"/>
              </a:solidFill>
              <a:latin typeface="Segoe UI"/>
              <a:ea typeface="Microsoft YaHei"/>
            </a:endParaRPr>
          </a:p>
        </p:txBody>
      </p:sp>
      <p:pic>
        <p:nvPicPr>
          <p:cNvPr id="9" name="Picture 8" descr="heart-sound-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541264"/>
            <a:ext cx="5760720" cy="99852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949440" y="1097280"/>
            <a:ext cx="4480560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yp-product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280160"/>
            <a:ext cx="4114800" cy="357804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4956048"/>
            <a:ext cx="41148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300" b="0">
                <a:solidFill>
                  <a:srgbClr val="98A2AD"/>
                </a:solidFill>
                <a:latin typeface="Segoe UI"/>
                <a:ea typeface="Microsoft YaHei"/>
              </a:rPr>
              <a:t>产品外观与交互示意（渲染图）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545775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2E7F86"/>
                </a:solidFill>
                <a:latin typeface="Segoe UI"/>
                <a:ea typeface="Microsoft YaHei"/>
              </a:rPr>
              <a:t>进展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76656"/>
            <a:ext cx="10545775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>
                <a:solidFill>
                  <a:srgbClr val="1F2933"/>
                </a:solidFill>
                <a:latin typeface="Segoe UI"/>
                <a:ea typeface="Microsoft YaHei"/>
              </a:rPr>
              <a:t>这几天工作总览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49324"/>
            <a:ext cx="10545775" cy="16459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371600" cy="45720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819656"/>
            <a:ext cx="118872" cy="219456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783080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>
                <a:solidFill>
                  <a:srgbClr val="2E7F86"/>
                </a:solidFill>
                <a:latin typeface="Segoe UI"/>
                <a:ea typeface="Microsoft YaHei"/>
              </a:rPr>
              <a:t>完成的工作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94560"/>
            <a:ext cx="566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235000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354735"/>
            <a:ext cx="4846320" cy="28315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 dirty="0" err="1">
                <a:solidFill>
                  <a:srgbClr val="1F2933"/>
                </a:solidFill>
                <a:latin typeface="Segoe UI"/>
                <a:ea typeface="Microsoft YaHei"/>
              </a:rPr>
              <a:t>梳理项目需求</a:t>
            </a:r>
            <a:endParaRPr sz="1600" b="0" dirty="0">
              <a:solidFill>
                <a:srgbClr val="1F2933"/>
              </a:solidFill>
              <a:latin typeface="Segoe UI"/>
              <a:ea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" y="2907791"/>
            <a:ext cx="566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3063239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067966"/>
            <a:ext cx="4846320" cy="28315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 dirty="0" err="1">
                <a:solidFill>
                  <a:srgbClr val="1F2933"/>
                </a:solidFill>
                <a:latin typeface="Segoe UI"/>
                <a:ea typeface="Microsoft YaHei"/>
              </a:rPr>
              <a:t>完成数据与硬件接口初稿</a:t>
            </a:r>
            <a:endParaRPr sz="1600" b="0" dirty="0">
              <a:solidFill>
                <a:srgbClr val="1F2933"/>
              </a:solidFill>
              <a:latin typeface="Segoe UI"/>
              <a:ea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566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" y="377647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3621024"/>
            <a:ext cx="4846320" cy="6035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明确探头、主机和服务器的总体关系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34256"/>
            <a:ext cx="566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24128" y="448970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334256"/>
            <a:ext cx="4846320" cy="6035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制作系统架构图和产品交互示意图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047488"/>
            <a:ext cx="5669280" cy="60350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128" y="520293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4752" y="5047488"/>
            <a:ext cx="4846320" cy="60350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与队友确定分工，整理待确认的结构与上传范围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1819656"/>
            <a:ext cx="118872" cy="219456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86016" y="1783080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>
                <a:solidFill>
                  <a:srgbClr val="C9553F"/>
                </a:solidFill>
                <a:latin typeface="Segoe UI"/>
                <a:ea typeface="Microsoft YaHei"/>
              </a:rPr>
              <a:t>形成的产出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2194560"/>
            <a:ext cx="4599432" cy="7680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66560" y="2304288"/>
            <a:ext cx="91440" cy="548640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2194560"/>
            <a:ext cx="4142232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阶段 0 接口冻结文档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3108960"/>
            <a:ext cx="4599432" cy="7680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66560" y="3218688"/>
            <a:ext cx="91440" cy="548640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40880" y="3108960"/>
            <a:ext cx="4142232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固件与上位机共用的音频协议头文件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4023360"/>
            <a:ext cx="4599432" cy="7680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766560" y="4133088"/>
            <a:ext cx="91440" cy="548640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4023360"/>
            <a:ext cx="4142232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系统架构图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4937760"/>
            <a:ext cx="4599432" cy="7680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766560" y="5047488"/>
            <a:ext cx="91440" cy="548640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4937760"/>
            <a:ext cx="4142232" cy="7680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00" b="0">
                <a:solidFill>
                  <a:srgbClr val="1F2933"/>
                </a:solidFill>
                <a:latin typeface="Segoe UI"/>
                <a:ea typeface="Microsoft YaHei"/>
              </a:rPr>
              <a:t>产品外观和交互示意图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943600"/>
            <a:ext cx="10545775" cy="566928"/>
          </a:xfrm>
          <a:prstGeom prst="roundRect">
            <a:avLst>
              <a:gd name="adj" fmla="val 9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97280" y="6172200"/>
            <a:ext cx="109728" cy="109728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35024" y="5943600"/>
            <a:ext cx="9759391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Microsoft YaHei"/>
              </a:rPr>
              <a:t>5 项工作已完成，4 项阶段 0 产出已就位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545775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D98A2B"/>
                </a:solidFill>
                <a:latin typeface="Segoe UI"/>
                <a:ea typeface="Microsoft YaHei"/>
              </a:rPr>
              <a:t>进展 ·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76656"/>
            <a:ext cx="10545775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>
                <a:solidFill>
                  <a:srgbClr val="1F2933"/>
                </a:solidFill>
                <a:latin typeface="Segoe UI"/>
                <a:ea typeface="Microsoft YaHei"/>
              </a:rPr>
              <a:t>数据接口与协议初稿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49324"/>
            <a:ext cx="10545775" cy="16459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371600" cy="4572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73936"/>
            <a:ext cx="118872" cy="21945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1737360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>
                <a:solidFill>
                  <a:srgbClr val="D98A2B"/>
                </a:solidFill>
                <a:latin typeface="Segoe UI"/>
                <a:ea typeface="Microsoft YaHei"/>
              </a:rPr>
              <a:t>帧结构（每帧 352 B）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7863840" cy="658368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</a:rPr>
              <a:t>payload · 320 B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103120"/>
            <a:ext cx="1828800" cy="658368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Segoe UI"/>
                <a:ea typeface="Microsoft YaHei"/>
              </a:rPr>
              <a:t>header · 30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2103120"/>
            <a:ext cx="850392" cy="658368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Segoe UI"/>
                <a:ea typeface="Microsoft YaHei"/>
              </a:rPr>
              <a:t>CRC 2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10543032" cy="274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50" b="0">
                <a:solidFill>
                  <a:srgbClr val="98A2AD"/>
                </a:solidFill>
                <a:latin typeface="Segoe UI"/>
                <a:ea typeface="Microsoft YaHei"/>
              </a:rPr>
              <a:t>20 ms 一帧 · 160 samples @ 8 kHz · 16-bit 单声道小端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3310128"/>
            <a:ext cx="13716" cy="2377440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310128"/>
            <a:ext cx="118872" cy="21945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3273552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>
                <a:solidFill>
                  <a:srgbClr val="D98A2B"/>
                </a:solidFill>
                <a:latin typeface="Segoe UI"/>
                <a:ea typeface="Microsoft YaHei"/>
              </a:rPr>
              <a:t>采集与帧格式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5120640" cy="2103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采集基线：8 kHz、单声道、16-bit PCM、小端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AI 输入：带限后 2:1 抽取到 4 kHz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逻辑帧：20 ms 一帧，8 kHz 下为 160 samples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帧格式：320 B payload + 30 B header + 2 B CRC，共 352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310128"/>
            <a:ext cx="118872" cy="21945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74536" y="3273552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>
                <a:solidFill>
                  <a:srgbClr val="D98A2B"/>
                </a:solidFill>
                <a:latin typeface="Segoe UI"/>
                <a:ea typeface="Microsoft YaHei"/>
              </a:rPr>
              <a:t>时间与责任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5010912" cy="21031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•  每帧包含 sequence 和 timestamp_ms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•  timestamp_ms 表示该帧第一个样本的采集时刻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•  探头生成序号和时间戳，主机必须原样使用、不重新生成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•  已提供固件和上位机共用的协议头文件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•  已定义固定测试帧，用于双方核对 header 和 CRC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943600"/>
            <a:ext cx="10545775" cy="566928"/>
          </a:xfrm>
          <a:prstGeom prst="roundRect">
            <a:avLst>
              <a:gd name="adj" fmla="val 9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97280" y="6172200"/>
            <a:ext cx="109728" cy="10972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35024" y="5943600"/>
            <a:ext cx="9759391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Microsoft YaHei"/>
              </a:rPr>
              <a:t>接口初稿成型：8 kHz 采集 · 20 ms 帧 · 352 B/帧，序号时间戳由探头生成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545775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2E7F86"/>
                </a:solidFill>
                <a:latin typeface="Segoe UI"/>
                <a:ea typeface="Microsoft YaHei"/>
              </a:rPr>
              <a:t>进展 ·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76656"/>
            <a:ext cx="10545775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>
                <a:solidFill>
                  <a:srgbClr val="1F2933"/>
                </a:solidFill>
                <a:latin typeface="Segoe UI"/>
                <a:ea typeface="Microsoft YaHei"/>
              </a:rPr>
              <a:t>系统架构与产品方案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49324"/>
            <a:ext cx="10545775" cy="16459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371600" cy="45720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788920" cy="822960"/>
          </a:xfrm>
          <a:prstGeom prst="roundRect">
            <a:avLst>
              <a:gd name="adj" fmla="val 1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Segoe UI"/>
                <a:ea typeface="Microsoft YaHei"/>
              </a:rPr>
              <a:t>探头（贴胸口）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9164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  <a:ea typeface="Microsoft YaHei"/>
              </a:rPr>
              <a:t>主机（AI + 屏幕 + 扬声器 + WiFi）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91640"/>
            <a:ext cx="24048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D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>
                <a:solidFill>
                  <a:srgbClr val="D98A2B"/>
                </a:solidFill>
                <a:latin typeface="Segoe UI"/>
                <a:ea typeface="Microsoft YaHei"/>
              </a:rPr>
              <a:t>服务器（数据存储）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709928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>
                <a:solidFill>
                  <a:srgbClr val="98A2AD"/>
                </a:solidFill>
                <a:latin typeface="Segoe UI"/>
                <a:ea typeface="Microsoft YaHei"/>
              </a:rPr>
              <a:t>BLE /  有线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90772" y="2029968"/>
            <a:ext cx="493776" cy="237744"/>
          </a:xfrm>
          <a:prstGeom prst="rightArrow">
            <a:avLst/>
          </a:prstGeom>
          <a:solidFill>
            <a:srgbClr val="98A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1709928"/>
            <a:ext cx="1051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/>
            <a:r>
              <a:rPr sz="1100" b="0">
                <a:solidFill>
                  <a:srgbClr val="98A2AD"/>
                </a:solidFill>
                <a:latin typeface="Segoe UI"/>
                <a:ea typeface="Microsoft YaHei"/>
              </a:rPr>
              <a:t>WiFi / 手机网关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88452" y="2029968"/>
            <a:ext cx="493776" cy="237744"/>
          </a:xfrm>
          <a:prstGeom prst="rightArrow">
            <a:avLst/>
          </a:prstGeom>
          <a:solidFill>
            <a:srgbClr val="98A2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2670048"/>
            <a:ext cx="118872" cy="219456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2633472"/>
            <a:ext cx="45720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50" b="1">
                <a:solidFill>
                  <a:srgbClr val="2E7F86"/>
                </a:solidFill>
                <a:latin typeface="Segoe UI"/>
                <a:ea typeface="Microsoft YaHei"/>
              </a:rPr>
              <a:t>系统架构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44368"/>
            <a:ext cx="10543032" cy="10972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探头负责采集和预处理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主机负责接收、显示、播放、本地</a:t>
            </a: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 AI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推理、WiFi</a:t>
            </a: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上传和断网缓存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服务器只负责数据存储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4041648"/>
            <a:ext cx="5102352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4225503"/>
            <a:ext cx="2304288" cy="1407199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4233273"/>
            <a:ext cx="1609344" cy="139943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22960" y="5943600"/>
            <a:ext cx="10545775" cy="566928"/>
          </a:xfrm>
          <a:prstGeom prst="roundRect">
            <a:avLst>
              <a:gd name="adj" fmla="val 9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" y="6172200"/>
            <a:ext cx="109728" cy="109728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35024" y="5943600"/>
            <a:ext cx="9759391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Microsoft YaHei"/>
              </a:rPr>
              <a:t>二体式已定：探头采集、主机本地推理与显示、服务器只存储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545775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D98A2B"/>
                </a:solidFill>
                <a:latin typeface="Segoe UI"/>
                <a:ea typeface="Microsoft YaHei"/>
              </a:rPr>
              <a:t>进展 ·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76656"/>
            <a:ext cx="10545775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>
                <a:solidFill>
                  <a:srgbClr val="1F2933"/>
                </a:solidFill>
                <a:latin typeface="Segoe UI"/>
                <a:ea typeface="Microsoft YaHei"/>
              </a:rPr>
              <a:t>团队分工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49324"/>
            <a:ext cx="10545775" cy="16459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371600" cy="45720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333237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3332378" cy="512064"/>
          </a:xfrm>
          <a:prstGeom prst="roundRect">
            <a:avLst>
              <a:gd name="adj" fmla="val 7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75688"/>
            <a:ext cx="3332378" cy="128016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3332378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Microsoft YaHei"/>
              </a:rPr>
              <a:t>我负责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404872"/>
            <a:ext cx="2856890" cy="31089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AI 数据集整理、模型训练、评估与优化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模型量化、边缘部署与 MCU 端推理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便携显示、心音波形与 GUI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无线通信、数据协议与上位机传输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系统软件集成、延迟与功耗测试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1691640"/>
            <a:ext cx="333237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29658" y="1691640"/>
            <a:ext cx="3332378" cy="512064"/>
          </a:xfrm>
          <a:prstGeom prst="roundRect">
            <a:avLst>
              <a:gd name="adj" fmla="val 7000"/>
            </a:avLst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29658" y="2075688"/>
            <a:ext cx="3332378" cy="128016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658" y="1691640"/>
            <a:ext cx="3332378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Microsoft YaHei"/>
              </a:rPr>
              <a:t>队友负责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402" y="2404872"/>
            <a:ext cx="2856890" cy="31089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麦克风选型、心音采集与模拟前端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放大、滤波、ADC 采样与心音预处理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扬声器回放电路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主控板、电源、电池与充电模块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A5560"/>
                </a:solidFill>
                <a:latin typeface="Segoe UI"/>
                <a:ea typeface="Microsoft YaHei"/>
              </a:rPr>
              <a:t>•  PCB 设计、打样、焊接、外壳与硬件调试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6356" y="1691640"/>
            <a:ext cx="333237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6356" y="1691640"/>
            <a:ext cx="3332378" cy="512064"/>
          </a:xfrm>
          <a:prstGeom prst="roundRect">
            <a:avLst>
              <a:gd name="adj" fmla="val 7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6356" y="2075688"/>
            <a:ext cx="3332378" cy="12801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36356" y="1691640"/>
            <a:ext cx="3332378" cy="512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Microsoft YaHei"/>
              </a:rPr>
              <a:t>共同负责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4100" y="2404872"/>
            <a:ext cx="2856890" cy="310895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冻结主控、采样率、数据格式与通信协议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确认模型输入输出接口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用真实设备采集并验证数据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  <a:p>
            <a:pPr algn="l">
              <a:lnSpc>
                <a:spcPct val="125000"/>
              </a:lnSpc>
              <a:spcAft>
                <a:spcPts val="1700"/>
              </a:spcAft>
            </a:pPr>
            <a:r>
              <a:rPr sz="1600" b="0" dirty="0">
                <a:solidFill>
                  <a:srgbClr val="4A5560"/>
                </a:solidFill>
                <a:latin typeface="Segoe UI"/>
                <a:ea typeface="Microsoft YaHei"/>
              </a:rPr>
              <a:t>•  </a:t>
            </a:r>
            <a:r>
              <a:rPr sz="1600" b="0" dirty="0" err="1">
                <a:solidFill>
                  <a:srgbClr val="4A5560"/>
                </a:solidFill>
                <a:latin typeface="Segoe UI"/>
                <a:ea typeface="Microsoft YaHei"/>
              </a:rPr>
              <a:t>完成系统联调、测试与最终演示</a:t>
            </a:r>
            <a:endParaRPr sz="1600" b="0" dirty="0">
              <a:solidFill>
                <a:srgbClr val="4A5560"/>
              </a:solidFill>
              <a:latin typeface="Segoe UI"/>
              <a:ea typeface="Microsoft Ya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" y="5943600"/>
            <a:ext cx="10545775" cy="566928"/>
          </a:xfrm>
          <a:prstGeom prst="roundRect">
            <a:avLst>
              <a:gd name="adj" fmla="val 9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97280" y="6172200"/>
            <a:ext cx="109728" cy="10972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35024" y="5943600"/>
            <a:ext cx="9759391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Microsoft YaHei"/>
              </a:rPr>
              <a:t>接口冻结与系统联调是双方共同的交付节点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545775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C9553F"/>
                </a:solidFill>
                <a:latin typeface="Segoe UI"/>
                <a:ea typeface="Microsoft YaHei"/>
              </a:rPr>
              <a:t>待确认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76656"/>
            <a:ext cx="10545775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>
                <a:solidFill>
                  <a:srgbClr val="1F2933"/>
                </a:solidFill>
                <a:latin typeface="Segoe UI"/>
                <a:ea typeface="Microsoft YaHei"/>
              </a:rPr>
              <a:t>需要老师确认：结构大方向与上传范围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49324"/>
            <a:ext cx="10545775" cy="16459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371600" cy="45720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090007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90007" cy="548640"/>
          </a:xfrm>
          <a:prstGeom prst="roundRect">
            <a:avLst>
              <a:gd name="adj" fmla="val 7000"/>
            </a:avLst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12264"/>
            <a:ext cx="5090007" cy="128016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22960" y="1691640"/>
            <a:ext cx="5090007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bIns="18288" rtlCol="0" anchor="ctr"/>
          <a:lstStyle/>
          <a:p>
            <a:pPr algn="l"/>
            <a:r>
              <a:rPr sz="2100" b="1">
                <a:solidFill>
                  <a:srgbClr val="FFFFFF"/>
                </a:solidFill>
                <a:latin typeface="Segoe UI"/>
                <a:ea typeface="Microsoft YaHei"/>
              </a:rPr>
              <a:t>1 · 设备结构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478023"/>
            <a:ext cx="4541367" cy="1362653"/>
          </a:xfrm>
          <a:prstGeom prst="roundRect">
            <a:avLst>
              <a:gd name="adj" fmla="val 12000"/>
            </a:avLst>
          </a:prstGeom>
          <a:solidFill>
            <a:srgbClr val="F1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36576" rIns="146304" bIns="36576" rtlCol="0" anchor="ctr"/>
          <a:lstStyle/>
          <a:p>
            <a:pPr algn="l">
              <a:lnSpc>
                <a:spcPct val="122000"/>
              </a:lnSpc>
            </a:pPr>
            <a:r>
              <a:rPr b="0" dirty="0">
                <a:solidFill>
                  <a:srgbClr val="1F2933"/>
                </a:solidFill>
                <a:latin typeface="Segoe UI"/>
                <a:ea typeface="Microsoft YaHei"/>
              </a:rPr>
              <a:t>1.   </a:t>
            </a:r>
            <a:r>
              <a:rPr b="0" dirty="0" err="1">
                <a:solidFill>
                  <a:srgbClr val="1F2933"/>
                </a:solidFill>
                <a:latin typeface="Segoe UI"/>
                <a:ea typeface="Microsoft YaHei"/>
              </a:rPr>
              <a:t>已确定采用二体式：探头贴胸采集，主机独立完成显示、控制和联网</a:t>
            </a:r>
            <a:endParaRPr b="0" dirty="0">
              <a:solidFill>
                <a:srgbClr val="1F2933"/>
              </a:solidFill>
              <a:latin typeface="Segoe UI"/>
              <a:ea typeface="Microsoft YaHe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52144" y="4069277"/>
            <a:ext cx="4541367" cy="1463506"/>
          </a:xfrm>
          <a:prstGeom prst="roundRect">
            <a:avLst>
              <a:gd name="adj" fmla="val 12000"/>
            </a:avLst>
          </a:prstGeom>
          <a:solidFill>
            <a:srgbClr val="F1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36576" rIns="146304" bIns="36576" rtlCol="0" anchor="ctr"/>
          <a:lstStyle/>
          <a:p>
            <a:pPr algn="l">
              <a:lnSpc>
                <a:spcPct val="122000"/>
              </a:lnSpc>
            </a:pPr>
            <a:r>
              <a:rPr lang="en-US" b="0" dirty="0">
                <a:solidFill>
                  <a:srgbClr val="1F2933"/>
                </a:solidFill>
                <a:latin typeface="Segoe UI"/>
                <a:ea typeface="Microsoft YaHei"/>
              </a:rPr>
              <a:t>2</a:t>
            </a:r>
            <a:r>
              <a:rPr b="0" dirty="0">
                <a:solidFill>
                  <a:srgbClr val="1F2933"/>
                </a:solidFill>
                <a:latin typeface="Segoe UI"/>
                <a:ea typeface="Microsoft YaHei"/>
              </a:rPr>
              <a:t>. </a:t>
            </a:r>
            <a:r>
              <a:rPr b="0" dirty="0" err="1">
                <a:solidFill>
                  <a:srgbClr val="1F2933"/>
                </a:solidFill>
                <a:latin typeface="Segoe UI"/>
                <a:ea typeface="Microsoft YaHei"/>
              </a:rPr>
              <a:t>探头与主机之间采用</a:t>
            </a:r>
            <a:r>
              <a:rPr b="0" dirty="0">
                <a:solidFill>
                  <a:srgbClr val="1F2933"/>
                </a:solidFill>
                <a:latin typeface="Segoe UI"/>
                <a:ea typeface="Microsoft YaHei"/>
              </a:rPr>
              <a:t> BLE </a:t>
            </a:r>
            <a:r>
              <a:rPr b="0" dirty="0" err="1">
                <a:solidFill>
                  <a:srgbClr val="1F2933"/>
                </a:solidFill>
                <a:latin typeface="Segoe UI"/>
                <a:ea typeface="Microsoft YaHei"/>
              </a:rPr>
              <a:t>无线还是有线连接</a:t>
            </a:r>
            <a:endParaRPr b="0" dirty="0">
              <a:solidFill>
                <a:srgbClr val="1F2933"/>
              </a:solidFill>
              <a:latin typeface="Segoe UI"/>
              <a:ea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78727" y="1691640"/>
            <a:ext cx="5090007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78727" y="1691640"/>
            <a:ext cx="5090007" cy="548640"/>
          </a:xfrm>
          <a:prstGeom prst="roundRect">
            <a:avLst>
              <a:gd name="adj" fmla="val 7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78727" y="2112264"/>
            <a:ext cx="5090007" cy="12801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8727" y="1691640"/>
            <a:ext cx="5090007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" bIns="18288" rtlCol="0" anchor="ctr"/>
          <a:lstStyle/>
          <a:p>
            <a:pPr algn="l"/>
            <a:r>
              <a:rPr sz="2100" b="1">
                <a:solidFill>
                  <a:srgbClr val="FFFFFF"/>
                </a:solidFill>
                <a:latin typeface="Segoe UI"/>
                <a:ea typeface="Microsoft YaHei"/>
              </a:rPr>
              <a:t>2 · 上传服务器的范围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3047" y="2478024"/>
            <a:ext cx="4541367" cy="1362652"/>
          </a:xfrm>
          <a:prstGeom prst="roundRect">
            <a:avLst>
              <a:gd name="adj" fmla="val 12000"/>
            </a:avLst>
          </a:prstGeom>
          <a:solidFill>
            <a:srgbClr val="F1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36576" rIns="146304" bIns="36576" rtlCol="0" anchor="ctr"/>
          <a:lstStyle/>
          <a:p>
            <a:pPr algn="l">
              <a:lnSpc>
                <a:spcPct val="122000"/>
              </a:lnSpc>
            </a:pPr>
            <a:r>
              <a:rPr b="0" dirty="0">
                <a:solidFill>
                  <a:srgbClr val="1F2933"/>
                </a:solidFill>
                <a:latin typeface="Segoe UI"/>
                <a:ea typeface="Microsoft YaHei"/>
              </a:rPr>
              <a:t>1.   </a:t>
            </a:r>
            <a:r>
              <a:rPr b="0" dirty="0" err="1">
                <a:solidFill>
                  <a:srgbClr val="1F2933"/>
                </a:solidFill>
                <a:latin typeface="Segoe UI"/>
                <a:ea typeface="Microsoft YaHei"/>
              </a:rPr>
              <a:t>服务器只接收</a:t>
            </a:r>
            <a:r>
              <a:rPr b="0" dirty="0">
                <a:solidFill>
                  <a:srgbClr val="1F2933"/>
                </a:solidFill>
                <a:latin typeface="Segoe UI"/>
                <a:ea typeface="Microsoft YaHei"/>
              </a:rPr>
              <a:t> AI </a:t>
            </a:r>
            <a:r>
              <a:rPr b="0" dirty="0" err="1">
                <a:solidFill>
                  <a:srgbClr val="1F2933"/>
                </a:solidFill>
                <a:latin typeface="Segoe UI"/>
                <a:ea typeface="Microsoft YaHei"/>
              </a:rPr>
              <a:t>结果，还是也需要特征和信号质量</a:t>
            </a:r>
            <a:endParaRPr b="0" dirty="0">
              <a:solidFill>
                <a:srgbClr val="1F2933"/>
              </a:solidFill>
              <a:latin typeface="Segoe UI"/>
              <a:ea typeface="Microsoft YaHe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52894" y="4069277"/>
            <a:ext cx="4541367" cy="1463506"/>
          </a:xfrm>
          <a:prstGeom prst="roundRect">
            <a:avLst>
              <a:gd name="adj" fmla="val 12000"/>
            </a:avLst>
          </a:prstGeom>
          <a:solidFill>
            <a:srgbClr val="F1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tIns="36576" rIns="146304" bIns="36576" rtlCol="0" anchor="ctr"/>
          <a:lstStyle/>
          <a:p>
            <a:pPr algn="l">
              <a:lnSpc>
                <a:spcPct val="122000"/>
              </a:lnSpc>
            </a:pPr>
            <a:r>
              <a:rPr b="0" dirty="0">
                <a:solidFill>
                  <a:srgbClr val="1F2933"/>
                </a:solidFill>
                <a:latin typeface="Segoe UI"/>
                <a:ea typeface="Microsoft YaHei"/>
              </a:rPr>
              <a:t>2.   </a:t>
            </a:r>
            <a:r>
              <a:rPr b="0" dirty="0" err="1">
                <a:solidFill>
                  <a:srgbClr val="1F2933"/>
                </a:solidFill>
                <a:latin typeface="Segoe UI"/>
                <a:ea typeface="Microsoft YaHei"/>
              </a:rPr>
              <a:t>是否需要上传原始心音或波形，供服务器回看和生成报告</a:t>
            </a:r>
            <a:endParaRPr b="0" dirty="0">
              <a:solidFill>
                <a:srgbClr val="1F2933"/>
              </a:solidFill>
              <a:latin typeface="Segoe UI"/>
              <a:ea typeface="Microsoft YaHe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5943600"/>
            <a:ext cx="10545775" cy="566928"/>
          </a:xfrm>
          <a:prstGeom prst="roundRect">
            <a:avLst>
              <a:gd name="adj" fmla="val 9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97280" y="6172200"/>
            <a:ext cx="109728" cy="109728"/>
          </a:xfrm>
          <a:prstGeom prst="rect">
            <a:avLst/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35024" y="5943600"/>
            <a:ext cx="9759391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Microsoft YaHei"/>
              </a:rPr>
              <a:t>请老师重点确认：总体结构 · 探头与主机连接方式 · 上传数据范围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384048"/>
            <a:ext cx="10545775" cy="29260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1">
                <a:solidFill>
                  <a:srgbClr val="2E7F86"/>
                </a:solidFill>
                <a:latin typeface="Segoe UI"/>
                <a:ea typeface="Microsoft YaHei"/>
              </a:rPr>
              <a:t>计划 ·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76656"/>
            <a:ext cx="10545775" cy="7132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200" b="1">
                <a:solidFill>
                  <a:srgbClr val="1F2933"/>
                </a:solidFill>
                <a:latin typeface="Segoe UI"/>
                <a:ea typeface="Microsoft YaHei"/>
              </a:rPr>
              <a:t>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49324"/>
            <a:ext cx="10545775" cy="16459"/>
          </a:xfrm>
          <a:prstGeom prst="rect">
            <a:avLst/>
          </a:prstGeom>
          <a:solidFill>
            <a:srgbClr val="E4DE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371600" cy="45720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3237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332378" cy="91440"/>
          </a:xfrm>
          <a:prstGeom prst="roundRect">
            <a:avLst>
              <a:gd name="adj" fmla="val 40000"/>
            </a:avLst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2560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95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56432"/>
            <a:ext cx="2783738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2933"/>
                </a:solidFill>
                <a:latin typeface="Segoe UI"/>
                <a:ea typeface="Microsoft YaHei"/>
              </a:rPr>
              <a:t>冻结结构与连接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43400"/>
            <a:ext cx="2783738" cy="1051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根据老师意见冻结二体式结构和连接方式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2103120"/>
            <a:ext cx="333237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29658" y="2103120"/>
            <a:ext cx="3332378" cy="91440"/>
          </a:xfrm>
          <a:prstGeom prst="roundRect">
            <a:avLst>
              <a:gd name="adj" fmla="val 4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3978" y="2560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978" y="3456432"/>
            <a:ext cx="2783738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2933"/>
                </a:solidFill>
                <a:latin typeface="Segoe UI"/>
                <a:ea typeface="Microsoft YaHei"/>
              </a:rPr>
              <a:t>确定上传范围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978" y="4343400"/>
            <a:ext cx="2783738" cy="10515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4A5560"/>
                </a:solidFill>
                <a:latin typeface="Segoe UI"/>
                <a:ea typeface="Microsoft YaHei"/>
              </a:rPr>
              <a:t>确定服务器上传的数据范围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6356" y="2103120"/>
            <a:ext cx="3332378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E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6356" y="2103120"/>
            <a:ext cx="3332378" cy="91440"/>
          </a:xfrm>
          <a:prstGeom prst="roundRect">
            <a:avLst>
              <a:gd name="adj" fmla="val 4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10676" y="25603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3456432"/>
            <a:ext cx="2783738" cy="777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F2933"/>
                </a:solidFill>
                <a:latin typeface="Segoe UI"/>
                <a:ea typeface="Microsoft YaHei"/>
              </a:rPr>
              <a:t>细化器件与接口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0676" y="4343400"/>
            <a:ext cx="2783738" cy="316305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dirty="0" err="1">
                <a:solidFill>
                  <a:srgbClr val="4A5560"/>
                </a:solidFill>
                <a:latin typeface="Segoe UI"/>
                <a:ea typeface="Microsoft YaHei"/>
              </a:rPr>
              <a:t>之后再与队友确认具体器件</a:t>
            </a:r>
            <a:endParaRPr sz="1550" b="0" dirty="0">
              <a:solidFill>
                <a:srgbClr val="4A5560"/>
              </a:solidFill>
              <a:latin typeface="Segoe UI"/>
              <a:ea typeface="Microsoft YaHe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" y="5943600"/>
            <a:ext cx="10545775" cy="566928"/>
          </a:xfrm>
          <a:prstGeom prst="roundRect">
            <a:avLst>
              <a:gd name="adj" fmla="val 9000"/>
            </a:avLst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97280" y="6172200"/>
            <a:ext cx="109728" cy="109728"/>
          </a:xfrm>
          <a:prstGeom prst="rect">
            <a:avLst/>
          </a:prstGeom>
          <a:solidFill>
            <a:srgbClr val="2E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35024" y="5943600"/>
            <a:ext cx="9759391" cy="5669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  <a:ea typeface="Microsoft YaHei"/>
              </a:rPr>
              <a:t>顺序：先冻结结构与连接 → 再定上传范围 → 最后细化器件、接口与上传字段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629</Words>
  <Application>Microsoft Office PowerPoint</Application>
  <PresentationFormat>宽屏</PresentationFormat>
  <Paragraphs>105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 p</cp:lastModifiedBy>
  <cp:revision>6</cp:revision>
  <dcterms:created xsi:type="dcterms:W3CDTF">2013-01-27T09:14:16Z</dcterms:created>
  <dcterms:modified xsi:type="dcterms:W3CDTF">2026-10-06T10:49:35Z</dcterms:modified>
  <cp:category/>
</cp:coreProperties>
</file>